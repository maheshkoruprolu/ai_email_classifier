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92" y="6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012B0D6-5669-4000-81D2-B99DC7301DC2}" type="datetimeFigureOut">
              <a:rPr lang="en-IN" smtClean="0"/>
              <a:t>24-02-2026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E978B8-189B-422C-924B-3EF410016D2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371908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978B8-189B-422C-924B-3EF410016D27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709349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2E978B8-189B-422C-924B-3EF410016D27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01766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5.png"/><Relationship Id="rId7" Type="http://schemas.openxmlformats.org/officeDocument/2006/relationships/image" Target="../media/image29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Relationship Id="rId9" Type="http://schemas.openxmlformats.org/officeDocument/2006/relationships/image" Target="../media/image3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36.png"/><Relationship Id="rId3" Type="http://schemas.openxmlformats.org/officeDocument/2006/relationships/image" Target="../media/image32.png"/><Relationship Id="rId7" Type="http://schemas.openxmlformats.org/officeDocument/2006/relationships/image" Target="../media/image3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4.png"/><Relationship Id="rId5" Type="http://schemas.openxmlformats.org/officeDocument/2006/relationships/image" Target="../media/image15.png"/><Relationship Id="rId4" Type="http://schemas.openxmlformats.org/officeDocument/2006/relationships/image" Target="../media/image33.png"/><Relationship Id="rId9" Type="http://schemas.openxmlformats.org/officeDocument/2006/relationships/image" Target="../media/image3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2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F172A">
                  <a:alpha val="70000"/>
                </a:srgbClr>
              </a:gs>
              <a:gs pos="50000">
                <a:srgbClr val="1E3A8A">
                  <a:alpha val="65000"/>
                </a:srgbClr>
              </a:gs>
              <a:gs pos="100000">
                <a:srgbClr val="1E293B">
                  <a:alpha val="70000"/>
                </a:srgbClr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0743931" y="478734"/>
            <a:ext cx="1142971" cy="79513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04792" y="5483294"/>
            <a:ext cx="1142971" cy="863461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714857" y="1315064"/>
            <a:ext cx="761980" cy="60837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981150" y="2362199"/>
            <a:ext cx="8229394" cy="1333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4550"/>
              </a:lnSpc>
              <a:spcBef>
                <a:spcPts val="0"/>
              </a:spcBef>
              <a:spcAft>
                <a:spcPts val="2080"/>
              </a:spcAft>
            </a:pPr>
            <a:r>
              <a:rPr sz="3348" b="1">
                <a:solidFill>
                  <a:srgbClr val="FFFFFF"/>
                </a:solidFill>
                <a:latin typeface="Source Code Pro"/>
              </a:rPr>
              <a:t>AI Powered Smart Email Classifier for Enterprises</a:t>
            </a:r>
          </a:p>
        </p:txBody>
      </p:sp>
      <p:sp>
        <p:nvSpPr>
          <p:cNvPr id="8" name="Rectangle 7"/>
          <p:cNvSpPr/>
          <p:nvPr/>
        </p:nvSpPr>
        <p:spPr>
          <a:xfrm>
            <a:off x="5086222" y="4095749"/>
            <a:ext cx="761980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00599" y="4006102"/>
            <a:ext cx="190495" cy="179294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343491" y="4095749"/>
            <a:ext cx="761980" cy="19050"/>
          </a:xfrm>
          <a:prstGeom prst="rect">
            <a:avLst/>
          </a:prstGeom>
          <a:gradFill rotWithShape="1">
            <a:gsLst>
              <a:gs pos="0">
                <a:srgbClr val="000000">
                  <a:alpha val="0"/>
                </a:srgbClr>
              </a:gs>
              <a:gs pos="50000">
                <a:srgbClr val="22D3EE"/>
              </a:gs>
              <a:gs pos="100000">
                <a:srgbClr val="000000">
                  <a:alpha val="0"/>
                </a:srgbClr>
              </a:gs>
            </a:gsLst>
            <a:lin ang="108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81150" y="4495799"/>
            <a:ext cx="8229394" cy="4000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730"/>
              </a:lnSpc>
              <a:spcBef>
                <a:spcPts val="0"/>
              </a:spcBef>
              <a:spcAft>
                <a:spcPts val="3120"/>
              </a:spcAft>
            </a:pPr>
            <a:r>
              <a:rPr sz="1674" b="0">
                <a:solidFill>
                  <a:srgbClr val="FFFFFF"/>
                </a:solidFill>
                <a:latin typeface="Roboto Flex"/>
              </a:rPr>
              <a:t>Automating Inbox Intelligence with Machine Learning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95707" y="5416363"/>
            <a:ext cx="190495" cy="1400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000499" y="5353049"/>
            <a:ext cx="249548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67E8F9"/>
                </a:solidFill>
                <a:latin typeface="Roboto Flex"/>
              </a:rPr>
              <a:t> Guided by: Mousami Shrivastava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13">
            <a:extLst>
              <a:ext uri="{FF2B5EF4-FFF2-40B4-BE49-F238E27FC236}">
                <a16:creationId xmlns:a16="http://schemas.microsoft.com/office/drawing/2014/main" id="{011515F1-9582-BAFE-1C90-1366AC9B1E25}"/>
              </a:ext>
            </a:extLst>
          </p:cNvPr>
          <p:cNvSpPr/>
          <p:nvPr/>
        </p:nvSpPr>
        <p:spPr>
          <a:xfrm>
            <a:off x="6019648" y="2139144"/>
            <a:ext cx="5562460" cy="42460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ounded Rectangle 13">
            <a:extLst>
              <a:ext uri="{FF2B5EF4-FFF2-40B4-BE49-F238E27FC236}">
                <a16:creationId xmlns:a16="http://schemas.microsoft.com/office/drawing/2014/main" id="{D3E69176-E7CB-732B-C004-4A5DECE3C5A4}"/>
              </a:ext>
            </a:extLst>
          </p:cNvPr>
          <p:cNvSpPr/>
          <p:nvPr/>
        </p:nvSpPr>
        <p:spPr>
          <a:xfrm>
            <a:off x="247951" y="2172736"/>
            <a:ext cx="5562460" cy="42460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" name="TextBox 1"/>
          <p:cNvSpPr txBox="1"/>
          <p:nvPr/>
        </p:nvSpPr>
        <p:spPr>
          <a:xfrm>
            <a:off x="609584" y="114300"/>
            <a:ext cx="5943451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Source Code Pro"/>
              </a:rPr>
              <a:t>The Problem &amp; The Solution</a:t>
            </a:r>
          </a:p>
        </p:txBody>
      </p:sp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188" y="1385066"/>
            <a:ext cx="342891" cy="277867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377" y="1371600"/>
            <a:ext cx="1504912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DC2626"/>
                </a:solidFill>
                <a:latin typeface="Source Code Pro"/>
              </a:rPr>
              <a:t>The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189" y="1714500"/>
            <a:ext cx="5171945" cy="315343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560"/>
              </a:spcAft>
            </a:pPr>
            <a:r>
              <a:rPr sz="1076" b="0" dirty="0">
                <a:solidFill>
                  <a:srgbClr val="6B7280"/>
                </a:solidFill>
                <a:latin typeface="Roboto Flex"/>
              </a:rPr>
              <a:t>Current Challenges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188" y="2433271"/>
            <a:ext cx="304792" cy="25790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76278" y="2409825"/>
            <a:ext cx="47528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EA580C"/>
                </a:solidFill>
                <a:latin typeface="Source Code Pro"/>
              </a:rPr>
              <a:t>Information Overhead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76278" y="2714625"/>
            <a:ext cx="4752856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 dirty="0">
                <a:solidFill>
                  <a:srgbClr val="4B5563"/>
                </a:solidFill>
                <a:latin typeface="Roboto Flex"/>
              </a:rPr>
              <a:t>Managing hundreds of thousands of emails manually is inefficient and costly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57188" y="3452446"/>
            <a:ext cx="304792" cy="257907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76278" y="3429000"/>
            <a:ext cx="47528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DC2626"/>
                </a:solidFill>
                <a:latin typeface="Source Code Pro"/>
              </a:rPr>
              <a:t>Delayed Response Times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278" y="3733799"/>
            <a:ext cx="4752856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Critical Complaints and support tickets get buried under general inquiries or spam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57188" y="4473819"/>
            <a:ext cx="304792" cy="2344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76278" y="4438649"/>
            <a:ext cx="47528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D97706"/>
                </a:solidFill>
                <a:latin typeface="Source Code Pro"/>
              </a:rPr>
              <a:t>Inconsistent Routing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6278" y="4743450"/>
            <a:ext cx="4752856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Manual triage leads to human error, resulting in emails forwarded to wrong departments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57188" y="5483469"/>
            <a:ext cx="304792" cy="234461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876278" y="5448300"/>
            <a:ext cx="4752856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2563EB"/>
                </a:solidFill>
                <a:latin typeface="Source Code Pro"/>
              </a:rPr>
              <a:t>Lack of Actionable Analytics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76278" y="5753099"/>
            <a:ext cx="4752856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No real-time visibility into what customers are emailing about most frequently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381590" y="1373242"/>
            <a:ext cx="342891" cy="289691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6972125" y="1358133"/>
            <a:ext cx="1647783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 dirty="0">
                <a:solidFill>
                  <a:srgbClr val="16A34A"/>
                </a:solidFill>
                <a:latin typeface="Source Code Pro"/>
              </a:rPr>
              <a:t>The Solution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1590" y="1707530"/>
            <a:ext cx="5181470" cy="25717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755"/>
              </a:lnSpc>
              <a:spcBef>
                <a:spcPts val="0"/>
              </a:spcBef>
              <a:spcAft>
                <a:spcPts val="1560"/>
              </a:spcAft>
            </a:pPr>
            <a:r>
              <a:rPr sz="1076" b="0" dirty="0">
                <a:solidFill>
                  <a:srgbClr val="6B7280"/>
                </a:solidFill>
                <a:latin typeface="Roboto Flex"/>
              </a:rPr>
              <a:t>AI-Powered Triage</a:t>
            </a:r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553036" y="2721219"/>
            <a:ext cx="304792" cy="234461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6972125" y="2686050"/>
            <a:ext cx="3790855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2563EB"/>
                </a:solidFill>
                <a:latin typeface="Source Code Pro"/>
              </a:rPr>
              <a:t>Automated Intelligence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72125" y="2990849"/>
            <a:ext cx="3790855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AI model trained on over </a:t>
            </a:r>
            <a:r>
              <a:rPr sz="1076" b="1">
                <a:solidFill>
                  <a:srgbClr val="1D4ED8"/>
                </a:solidFill>
                <a:latin typeface="Roboto Flex"/>
              </a:rPr>
              <a:t>204,000</a:t>
            </a:r>
            <a:r>
              <a:rPr sz="1076" b="0">
                <a:solidFill>
                  <a:srgbClr val="4B5563"/>
                </a:solidFill>
                <a:latin typeface="Roboto Flex"/>
              </a:rPr>
              <a:t> historical emails</a:t>
            </a:r>
          </a:p>
        </p:txBody>
      </p:sp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6553036" y="3452446"/>
            <a:ext cx="304792" cy="257907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972125" y="3429000"/>
            <a:ext cx="47623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0891B2"/>
                </a:solidFill>
                <a:latin typeface="Source Code Pro"/>
              </a:rPr>
              <a:t>Instant Categorization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972125" y="3733799"/>
            <a:ext cx="4762380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Emails evaluated in milliseconds and routed to correct department</a:t>
            </a:r>
          </a:p>
        </p:txBody>
      </p:sp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553036" y="4462096"/>
            <a:ext cx="304792" cy="257907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6972125" y="4438649"/>
            <a:ext cx="471475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16A34A"/>
                </a:solidFill>
                <a:latin typeface="Source Code Pro"/>
              </a:rPr>
              <a:t>Spam Elimination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972125" y="4743450"/>
            <a:ext cx="4714757" cy="2762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Identifies and isolates unsolicited emails to keep queues clean</a:t>
            </a:r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6553036" y="5207244"/>
            <a:ext cx="304792" cy="234461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972125" y="5172075"/>
            <a:ext cx="4762380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196" b="1">
                <a:solidFill>
                  <a:srgbClr val="9333EA"/>
                </a:solidFill>
                <a:latin typeface="Source Code Pro"/>
              </a:rPr>
              <a:t>Interactive Application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972125" y="5476875"/>
            <a:ext cx="4762380" cy="5619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885"/>
              </a:lnSpc>
              <a:spcBef>
                <a:spcPts val="0"/>
              </a:spcBef>
              <a:spcAft>
                <a:spcPts val="0"/>
              </a:spcAft>
            </a:pPr>
            <a:r>
              <a:rPr sz="1076" b="0">
                <a:solidFill>
                  <a:srgbClr val="4B5563"/>
                </a:solidFill>
                <a:latin typeface="Roboto Flex"/>
              </a:rPr>
              <a:t>User-friendly dashboard for managers to monitor email traffic and model confidence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708642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Source Code Pro"/>
              </a:rPr>
              <a:t>The 5 Core Categories &amp; Actions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390650"/>
            <a:ext cx="5486262" cy="476250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ounded Rectangle 3"/>
          <p:cNvSpPr/>
          <p:nvPr/>
        </p:nvSpPr>
        <p:spPr>
          <a:xfrm>
            <a:off x="6705432" y="24764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6934026" y="22860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C2626"/>
                </a:solidFill>
                <a:latin typeface="Source Code Pro"/>
              </a:rPr>
              <a:t>Complaint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(High Priority)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934026" y="2552700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Escalate immediately to customer service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05432" y="31242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934026" y="2933699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2563EB"/>
                </a:solidFill>
                <a:latin typeface="Source Code Pro"/>
              </a:rPr>
              <a:t>Support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(High Priority)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934026" y="3200400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Route to technical teams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705432" y="37719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934026" y="35814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16A34A"/>
                </a:solidFill>
                <a:latin typeface="Source Code Pro"/>
              </a:rPr>
              <a:t>Feedback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(Medium Priority)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934026" y="3848099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Analyze for product improvements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705432" y="4419600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934026" y="42291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D97706"/>
                </a:solidFill>
                <a:latin typeface="Source Code Pro"/>
              </a:rPr>
              <a:t>Other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(Low Priority)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34026" y="4495799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Route to standard queue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05432" y="5067299"/>
            <a:ext cx="114297" cy="114300"/>
          </a:xfrm>
          <a:prstGeom prst="roundRect">
            <a:avLst>
              <a:gd name="adj" fmla="val 166650000"/>
            </a:avLst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934026" y="4876800"/>
            <a:ext cx="4648083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0"/>
              </a:spcAft>
            </a:pPr>
            <a:r>
              <a:rPr sz="1196" b="1">
                <a:solidFill>
                  <a:srgbClr val="4B5563"/>
                </a:solidFill>
                <a:latin typeface="Source Code Pro"/>
              </a:rPr>
              <a:t>Spam </a:t>
            </a:r>
            <a:r>
              <a:rPr sz="956" b="0">
                <a:solidFill>
                  <a:srgbClr val="6B7280"/>
                </a:solidFill>
                <a:latin typeface="Source Code Pro"/>
              </a:rPr>
              <a:t>(Low Priority)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34026" y="5143500"/>
            <a:ext cx="4648083" cy="228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560"/>
              </a:lnSpc>
              <a:spcBef>
                <a:spcPts val="0"/>
              </a:spcBef>
              <a:spcAft>
                <a:spcPts val="0"/>
              </a:spcAft>
            </a:pPr>
            <a:r>
              <a:rPr sz="956" b="0">
                <a:solidFill>
                  <a:srgbClr val="374151"/>
                </a:solidFill>
                <a:latin typeface="Roboto Flex"/>
              </a:rPr>
              <a:t>Auto-archive / Delete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6172045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Source Code Pro"/>
              </a:rPr>
              <a:t>Overall System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188" y="1409699"/>
            <a:ext cx="5181470" cy="4857750"/>
          </a:xfrm>
          <a:prstGeom prst="roundRect">
            <a:avLst/>
          </a:prstGeom>
          <a:blipFill>
            <a:blip r:embed="rId2"/>
            <a:stretch>
              <a:fillRect/>
            </a:stretch>
          </a:blip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95847" y="1883019"/>
            <a:ext cx="304792" cy="234461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553036" y="1809749"/>
            <a:ext cx="261930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2563EB"/>
                </a:solidFill>
                <a:latin typeface="Source Code Pro"/>
              </a:rPr>
              <a:t>Email Dataset (CSV)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53036" y="2152650"/>
            <a:ext cx="261930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Raw email data input source</a:t>
            </a:r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095847" y="2765913"/>
            <a:ext cx="304792" cy="16412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553036" y="2657475"/>
            <a:ext cx="3295567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0891B2"/>
                </a:solidFill>
                <a:latin typeface="Source Code Pro"/>
              </a:rPr>
              <a:t>Jupyter Notebook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53036" y="3000375"/>
            <a:ext cx="3295567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Text cleaning and feature extraction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95847" y="3565280"/>
            <a:ext cx="304792" cy="2608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553036" y="3505199"/>
            <a:ext cx="3657508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16A34A"/>
                </a:solidFill>
                <a:latin typeface="Source Code Pro"/>
              </a:rPr>
              <a:t>SVM Model Training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53036" y="3848099"/>
            <a:ext cx="3657508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Optimization and classification learning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095847" y="4426194"/>
            <a:ext cx="304792" cy="234461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553036" y="4352924"/>
            <a:ext cx="2285942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9333EA"/>
                </a:solidFill>
                <a:latin typeface="Source Code Pro"/>
              </a:rPr>
              <a:t>Model Storage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53036" y="4695824"/>
            <a:ext cx="2285942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Saved as svm_model.pkl</a:t>
            </a:r>
          </a:p>
        </p:txBody>
      </p:sp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095847" y="5282711"/>
            <a:ext cx="304792" cy="21687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53036" y="5200650"/>
            <a:ext cx="3200319" cy="2666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520"/>
              </a:spcAft>
            </a:pPr>
            <a:r>
              <a:rPr sz="1196" b="1">
                <a:solidFill>
                  <a:srgbClr val="EA580C"/>
                </a:solidFill>
                <a:latin typeface="Source Code Pro"/>
              </a:rPr>
              <a:t>Streamlit Deployment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53036" y="5543550"/>
            <a:ext cx="3200319" cy="314325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145"/>
              </a:lnSpc>
              <a:spcBef>
                <a:spcPts val="0"/>
              </a:spcBef>
              <a:spcAft>
                <a:spcPts val="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Interactive web app for predictions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66674"/>
            <a:ext cx="6172045" cy="5143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510"/>
              </a:lnSpc>
              <a:spcBef>
                <a:spcPts val="0"/>
              </a:spcBef>
              <a:spcAft>
                <a:spcPts val="0"/>
              </a:spcAft>
            </a:pPr>
            <a:r>
              <a:rPr sz="2152" b="1">
                <a:solidFill>
                  <a:srgbClr val="1E3A8A"/>
                </a:solidFill>
                <a:latin typeface="Source Code Pro"/>
              </a:rPr>
              <a:t>The AI Engine &amp; Business Value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188" y="866700"/>
            <a:ext cx="2936958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200" b="1" dirty="0">
                <a:solidFill>
                  <a:srgbClr val="1D4ED8"/>
                </a:solidFill>
                <a:latin typeface="Source Code Pro"/>
              </a:rPr>
              <a:t>The AI Engine - Under the Hood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188" y="1276350"/>
            <a:ext cx="5562460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47683" y="1493454"/>
            <a:ext cx="342891" cy="289691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104872" y="1438199"/>
            <a:ext cx="1821268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2563EB"/>
                </a:solidFill>
                <a:latin typeface="Source Code Pro"/>
              </a:rPr>
              <a:t>Model 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4872" y="1743874"/>
            <a:ext cx="2271712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Linear SVM with TF-IDF vectorization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4872" y="1985506"/>
            <a:ext cx="2218813" cy="2390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Roboto Flex"/>
              </a:rPr>
              <a:t>8,000 features with 3-word combinations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72045" y="1276350"/>
            <a:ext cx="5562460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362540" y="1517102"/>
            <a:ext cx="342891" cy="242394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819729" y="1438199"/>
            <a:ext cx="2379113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0891B2"/>
                </a:solidFill>
                <a:latin typeface="Source Code Pro"/>
              </a:rPr>
              <a:t>Massive Training Dataset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19729" y="1743874"/>
            <a:ext cx="1648143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Perfectly balanced dataset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19729" y="1985506"/>
            <a:ext cx="2071336" cy="2390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Roboto Flex"/>
              </a:rPr>
              <a:t>204,000 emails trained and evaluated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188" y="2524125"/>
            <a:ext cx="5562460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7683" y="2732361"/>
            <a:ext cx="342891" cy="30742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104872" y="2685975"/>
            <a:ext cx="2472087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16A34A"/>
                </a:solidFill>
                <a:latin typeface="Source Code Pro"/>
              </a:rPr>
              <a:t>Industry-Leading Accuracy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4872" y="2991648"/>
            <a:ext cx="2064924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Overall classification performance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04872" y="3233280"/>
            <a:ext cx="1526315" cy="2390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Roboto Flex"/>
              </a:rPr>
              <a:t>99.22% accuracy achieved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045" y="2524125"/>
            <a:ext cx="5562460" cy="1095374"/>
          </a:xfrm>
          <a:prstGeom prst="roundRect">
            <a:avLst>
              <a:gd name="adj" fmla="val 13913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362540" y="2741229"/>
            <a:ext cx="342891" cy="289691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6819729" y="2685975"/>
            <a:ext cx="1821268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9333EA"/>
                </a:solidFill>
                <a:latin typeface="Source Code Pro"/>
              </a:rPr>
              <a:t>Flawless Precision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9729" y="2991648"/>
            <a:ext cx="1832489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Support and Spam categories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19729" y="3233280"/>
            <a:ext cx="1327543" cy="23904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040"/>
              </a:lnSpc>
              <a:spcBef>
                <a:spcPts val="260"/>
              </a:spcBef>
              <a:spcAft>
                <a:spcPts val="0"/>
              </a:spcAft>
            </a:pPr>
            <a:r>
              <a:rPr sz="900" b="0">
                <a:solidFill>
                  <a:srgbClr val="6B7280"/>
                </a:solidFill>
                <a:latin typeface="Roboto Flex"/>
              </a:rPr>
              <a:t>Perfect 100% F1-score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188" y="4000425"/>
            <a:ext cx="2007216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780"/>
              </a:spcAft>
            </a:pPr>
            <a:r>
              <a:rPr sz="1200" b="1" dirty="0">
                <a:solidFill>
                  <a:srgbClr val="1D4ED8"/>
                </a:solidFill>
                <a:latin typeface="Source Code Pro"/>
              </a:rPr>
              <a:t>Business Value &amp; ROI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188" y="4410074"/>
            <a:ext cx="5562460" cy="1066799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47683" y="4627179"/>
            <a:ext cx="342891" cy="28969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1104872" y="4571925"/>
            <a:ext cx="2007216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2563EB"/>
                </a:solidFill>
                <a:latin typeface="Source Code Pro"/>
              </a:rPr>
              <a:t>Massive Time Savings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4872" y="4877599"/>
            <a:ext cx="3307252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Eliminates thousands of hours of manual triage per year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172045" y="4410074"/>
            <a:ext cx="5562460" cy="1066799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6362540" y="4628657"/>
            <a:ext cx="342891" cy="286735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6819729" y="4571925"/>
            <a:ext cx="1356397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0891B2"/>
                </a:solidFill>
                <a:latin typeface="Source Code Pro"/>
              </a:rPr>
              <a:t>Improved SLAs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9729" y="4877599"/>
            <a:ext cx="3680751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Faster response times for critical support and angry customers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188" y="5629275"/>
            <a:ext cx="5562460" cy="1066799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47683" y="5864115"/>
            <a:ext cx="342891" cy="254218"/>
          </a:xfrm>
          <a:prstGeom prst="rect">
            <a:avLst/>
          </a:prstGeom>
        </p:spPr>
      </p:pic>
      <p:sp>
        <p:nvSpPr>
          <p:cNvPr id="35" name="TextBox 34"/>
          <p:cNvSpPr txBox="1"/>
          <p:nvPr/>
        </p:nvSpPr>
        <p:spPr>
          <a:xfrm>
            <a:off x="1104872" y="5791125"/>
            <a:ext cx="2007216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16A34A"/>
                </a:solidFill>
                <a:latin typeface="Source Code Pro"/>
              </a:rPr>
              <a:t>Data-Driven Insights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04872" y="6096798"/>
            <a:ext cx="4499886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Direct insight into customer feedback trends for marketing and product teams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172045" y="5629275"/>
            <a:ext cx="5562460" cy="1066799"/>
          </a:xfrm>
          <a:prstGeom prst="roundRect">
            <a:avLst>
              <a:gd name="adj" fmla="val 14285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362540" y="5852291"/>
            <a:ext cx="342891" cy="277867"/>
          </a:xfrm>
          <a:prstGeom prst="rect">
            <a:avLst/>
          </a:prstGeom>
        </p:spPr>
      </p:pic>
      <p:sp>
        <p:nvSpPr>
          <p:cNvPr id="39" name="TextBox 38"/>
          <p:cNvSpPr txBox="1"/>
          <p:nvPr/>
        </p:nvSpPr>
        <p:spPr>
          <a:xfrm>
            <a:off x="6819729" y="5791125"/>
            <a:ext cx="1542345" cy="323999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820"/>
              </a:lnSpc>
              <a:spcBef>
                <a:spcPts val="0"/>
              </a:spcBef>
              <a:spcAft>
                <a:spcPts val="260"/>
              </a:spcAft>
            </a:pPr>
            <a:r>
              <a:rPr sz="1200" b="1">
                <a:solidFill>
                  <a:srgbClr val="9333EA"/>
                </a:solidFill>
                <a:latin typeface="Source Code Pro"/>
              </a:rPr>
              <a:t>Cost Efficiency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9729" y="6096798"/>
            <a:ext cx="3576557" cy="274627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4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>
                <a:solidFill>
                  <a:srgbClr val="4B5563"/>
                </a:solidFill>
                <a:latin typeface="Roboto Flex"/>
              </a:rPr>
              <a:t>Lightweight deployment structure using Python and Streamlit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7086422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Source Code Pro"/>
              </a:rPr>
              <a:t>Interactive Analytics Dashboard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09584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14377" y="1978818"/>
            <a:ext cx="533386" cy="36671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00159" y="1885950"/>
            <a:ext cx="2162120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2563EB"/>
                </a:solidFill>
                <a:latin typeface="Source Code Pro"/>
              </a:rPr>
              <a:t>Real-time Metrics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903" y="2502876"/>
            <a:ext cx="2847903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104872" y="2736317"/>
            <a:ext cx="304792" cy="21687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2543111" y="2636836"/>
            <a:ext cx="102867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D4ED8"/>
                </a:solidFill>
                <a:latin typeface="Source Code Pro"/>
              </a:rPr>
              <a:t>12,458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14397" y="3046978"/>
            <a:ext cx="246691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>
                <a:solidFill>
                  <a:srgbClr val="374151"/>
                </a:solidFill>
                <a:latin typeface="Roboto Flex"/>
              </a:rPr>
              <a:t>Total Emails Today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377" y="3750731"/>
            <a:ext cx="2847903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75207" y="3953363"/>
            <a:ext cx="304792" cy="257907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2543111" y="3926904"/>
            <a:ext cx="857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15803D"/>
                </a:solidFill>
                <a:latin typeface="Source Code Pro"/>
              </a:rPr>
              <a:t>1,892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75207" y="4217820"/>
            <a:ext cx="1210793" cy="338106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Spam Blocked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3901" y="4937124"/>
            <a:ext cx="2847903" cy="1085850"/>
          </a:xfrm>
          <a:prstGeom prst="roundRect">
            <a:avLst>
              <a:gd name="adj" fmla="val 14035"/>
            </a:avLst>
          </a:prstGeom>
          <a:solidFill>
            <a:srgbClr val="EFF6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1159871" y="5160596"/>
            <a:ext cx="304792" cy="26963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2621353" y="5172075"/>
            <a:ext cx="85722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 dirty="0">
                <a:solidFill>
                  <a:srgbClr val="0E7490"/>
                </a:solidFill>
                <a:latin typeface="Source Code Pro"/>
              </a:rPr>
              <a:t>96.8%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47734" y="5508625"/>
            <a:ext cx="2466913" cy="28575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Average Confidence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71865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06B6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676658" y="2001115"/>
            <a:ext cx="533386" cy="303068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5362440" y="2038349"/>
            <a:ext cx="2057348" cy="3048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0891B2"/>
                </a:solidFill>
                <a:latin typeface="Source Code Pro"/>
              </a:rPr>
              <a:t>Volume Tracking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05232" y="2479529"/>
            <a:ext cx="2847903" cy="3333749"/>
          </a:xfrm>
          <a:prstGeom prst="roundRect">
            <a:avLst>
              <a:gd name="adj" fmla="val 5351"/>
            </a:avLst>
          </a:prstGeom>
          <a:gradFill rotWithShape="1">
            <a:gsLst>
              <a:gs pos="0">
                <a:srgbClr val="ECFEFF"/>
              </a:gs>
              <a:gs pos="100000">
                <a:srgbClr val="EFF6FF"/>
              </a:gs>
            </a:gsLst>
            <a:lin ang="8100000" scaled="0"/>
          </a:gra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5714857" y="3241879"/>
            <a:ext cx="761980" cy="39329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4905252" y="4038599"/>
            <a:ext cx="2390715" cy="62865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145"/>
              </a:lnSpc>
              <a:spcBef>
                <a:spcPts val="1040"/>
              </a:spcBef>
              <a:spcAft>
                <a:spcPts val="0"/>
              </a:spcAft>
            </a:pPr>
            <a:r>
              <a:rPr sz="1315" b="1">
                <a:solidFill>
                  <a:srgbClr val="0E7490"/>
                </a:solidFill>
                <a:latin typeface="Source Code Pro"/>
              </a:rPr>
              <a:t>30-Day Interactive Charts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05252" y="4781549"/>
            <a:ext cx="2390715" cy="933449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ts val="2080"/>
              </a:lnSpc>
              <a:spcBef>
                <a:spcPts val="780"/>
              </a:spcBef>
              <a:spcAft>
                <a:spcPts val="0"/>
              </a:spcAft>
            </a:pPr>
            <a:r>
              <a:rPr sz="1196" b="0">
                <a:solidFill>
                  <a:srgbClr val="4B5563"/>
                </a:solidFill>
                <a:latin typeface="Roboto Flex"/>
              </a:rPr>
              <a:t>Daily email volume trends and category distribution visualization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124621" y="1543050"/>
            <a:ext cx="3457488" cy="4572000"/>
          </a:xfrm>
          <a:prstGeom prst="roundRect">
            <a:avLst>
              <a:gd name="adj" fmla="val 6611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8429414" y="1959119"/>
            <a:ext cx="533386" cy="406111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115197" y="1885950"/>
            <a:ext cx="2162120" cy="6096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080"/>
              </a:lnSpc>
              <a:spcBef>
                <a:spcPts val="0"/>
              </a:spcBef>
              <a:spcAft>
                <a:spcPts val="0"/>
              </a:spcAft>
            </a:pPr>
            <a:r>
              <a:rPr sz="1435" b="1">
                <a:solidFill>
                  <a:srgbClr val="16A34A"/>
                </a:solidFill>
                <a:latin typeface="Source Code Pro"/>
              </a:rPr>
              <a:t>Deep-Dive Analytics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334166" y="2479530"/>
            <a:ext cx="2847903" cy="3333749"/>
          </a:xfrm>
          <a:prstGeom prst="roundRect">
            <a:avLst>
              <a:gd name="adj" fmla="val 5351"/>
            </a:avLst>
          </a:prstGeom>
          <a:solidFill>
            <a:srgbClr val="F0FD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9" name="TextBox 28"/>
          <p:cNvSpPr txBox="1"/>
          <p:nvPr/>
        </p:nvSpPr>
        <p:spPr>
          <a:xfrm>
            <a:off x="8619909" y="2271712"/>
            <a:ext cx="2466913" cy="1019174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2275"/>
              </a:lnSpc>
              <a:spcBef>
                <a:spcPts val="0"/>
              </a:spcBef>
              <a:spcAft>
                <a:spcPts val="1300"/>
              </a:spcAft>
            </a:pPr>
            <a:r>
              <a:rPr sz="1315" b="0">
                <a:solidFill>
                  <a:srgbClr val="374151"/>
                </a:solidFill>
                <a:latin typeface="Roboto Flex"/>
              </a:rPr>
              <a:t>Analyzes most influential keywords across categories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610690" y="3101300"/>
            <a:ext cx="246691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8791354" y="3328986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EF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8962799" y="3179231"/>
            <a:ext cx="197162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Complaint: </a:t>
            </a:r>
            <a:r>
              <a:rPr sz="1196" b="1" dirty="0">
                <a:solidFill>
                  <a:srgbClr val="374151"/>
                </a:solidFill>
                <a:latin typeface="Roboto Flex"/>
              </a:rPr>
              <a:t>delay, late, issue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610689" y="4015460"/>
            <a:ext cx="246691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4" name="Rounded Rectangle 33"/>
          <p:cNvSpPr/>
          <p:nvPr/>
        </p:nvSpPr>
        <p:spPr>
          <a:xfrm>
            <a:off x="8753255" y="433675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2798" y="4173297"/>
            <a:ext cx="197162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Support: </a:t>
            </a:r>
            <a:r>
              <a:rPr sz="1196" b="1" dirty="0">
                <a:solidFill>
                  <a:srgbClr val="374151"/>
                </a:solidFill>
                <a:latin typeface="Roboto Flex"/>
              </a:rPr>
              <a:t>reset, password, login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607817" y="4957763"/>
            <a:ext cx="2466913" cy="800100"/>
          </a:xfrm>
          <a:prstGeom prst="roundRect">
            <a:avLst>
              <a:gd name="adj" fmla="val 19047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7" name="Rounded Rectangle 36"/>
          <p:cNvSpPr/>
          <p:nvPr/>
        </p:nvSpPr>
        <p:spPr>
          <a:xfrm>
            <a:off x="8753255" y="5160596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962797" y="5009661"/>
            <a:ext cx="1971625" cy="571500"/>
          </a:xfrm>
          <a:prstGeom prst="rect">
            <a:avLst/>
          </a:prstGeom>
          <a:noFill/>
        </p:spPr>
        <p:txBody>
          <a:bodyPr wrap="square" lIns="73152" tIns="54864" rIns="73152" bIns="54864" anchor="ctr">
            <a:spAutoFit/>
          </a:bodyPr>
          <a:lstStyle/>
          <a:p>
            <a:pPr algn="l">
              <a:lnSpc>
                <a:spcPts val="1950"/>
              </a:lnSpc>
              <a:spcBef>
                <a:spcPts val="0"/>
              </a:spcBef>
              <a:spcAft>
                <a:spcPts val="0"/>
              </a:spcAft>
            </a:pPr>
            <a:r>
              <a:rPr sz="1196" b="0" dirty="0">
                <a:solidFill>
                  <a:srgbClr val="374151"/>
                </a:solidFill>
                <a:latin typeface="Roboto Flex"/>
              </a:rPr>
              <a:t>Feedback: </a:t>
            </a:r>
            <a:r>
              <a:rPr sz="1196" b="1" dirty="0">
                <a:solidFill>
                  <a:srgbClr val="374151"/>
                </a:solidFill>
                <a:latin typeface="Roboto Flex"/>
              </a:rPr>
              <a:t>great, suggestion, improve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09584" y="114300"/>
            <a:ext cx="8229394" cy="5715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3900"/>
              </a:lnSpc>
              <a:spcBef>
                <a:spcPts val="0"/>
              </a:spcBef>
              <a:spcAft>
                <a:spcPts val="0"/>
              </a:spcAft>
            </a:pPr>
            <a:r>
              <a:rPr sz="2392" b="1">
                <a:solidFill>
                  <a:srgbClr val="1E3A8A"/>
                </a:solidFill>
                <a:latin typeface="Source Code Pro"/>
              </a:rPr>
              <a:t>API Integration &amp; Deployment Roadmap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61980" y="1543050"/>
            <a:ext cx="510527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02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1142971" y="1998244"/>
            <a:ext cx="457188" cy="38501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752556" y="2019299"/>
            <a:ext cx="2228794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16A34A"/>
                </a:solidFill>
                <a:latin typeface="Source Code Pro"/>
              </a:rPr>
              <a:t>Current State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142971" y="2762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333466" y="2647949"/>
            <a:ext cx="160015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Live &amp; Deployed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2971" y="32956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333466" y="3181350"/>
            <a:ext cx="271455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99.22% accuracy achieved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2971" y="3829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333466" y="3714750"/>
            <a:ext cx="231451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Streamlit app fully built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2971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333466" y="4248150"/>
            <a:ext cx="2495487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Ready for immediate use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2971" y="48958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333466" y="4781549"/>
            <a:ext cx="30574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Real-time analytics dashboard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2971" y="54292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1333466" y="5314950"/>
            <a:ext cx="2743131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Interactive testing interface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24441" y="1543050"/>
            <a:ext cx="5105272" cy="457200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33020"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05432" y="2001252"/>
            <a:ext cx="457188" cy="378994"/>
          </a:xfrm>
          <a:prstGeom prst="rect">
            <a:avLst/>
          </a:prstGeom>
        </p:spPr>
      </p:pic>
      <p:sp>
        <p:nvSpPr>
          <p:cNvPr id="20" name="TextBox 19"/>
          <p:cNvSpPr txBox="1"/>
          <p:nvPr/>
        </p:nvSpPr>
        <p:spPr>
          <a:xfrm>
            <a:off x="7315017" y="2019299"/>
            <a:ext cx="205734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794" b="1">
                <a:solidFill>
                  <a:srgbClr val="2563EB"/>
                </a:solidFill>
                <a:latin typeface="Source Code Pro"/>
              </a:rPr>
              <a:t>Future Scope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705432" y="27622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6895927" y="2647949"/>
            <a:ext cx="2571685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Enterprise API Integration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05432" y="32956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95927" y="3181350"/>
            <a:ext cx="2438339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FastAPI model exposure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705432" y="38290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6895927" y="3714750"/>
            <a:ext cx="286695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Live email server connection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705432" y="43624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895927" y="4248150"/>
            <a:ext cx="3752756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Silent automated background routing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05432" y="4895849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" name="TextBox 29"/>
          <p:cNvSpPr txBox="1"/>
          <p:nvPr/>
        </p:nvSpPr>
        <p:spPr>
          <a:xfrm>
            <a:off x="6895927" y="4781549"/>
            <a:ext cx="3257468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Direct Outlook/Gmail integration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705432" y="5429250"/>
            <a:ext cx="76198" cy="76200"/>
          </a:xfrm>
          <a:prstGeom prst="roundRect">
            <a:avLst>
              <a:gd name="adj" fmla="val 249975000"/>
            </a:avLst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6895927" y="5314950"/>
            <a:ext cx="3362240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l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374151"/>
                </a:solidFill>
                <a:latin typeface="Roboto Flex"/>
              </a:rPr>
              <a:t>Zero human intervention required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AFC"/>
            </a:gs>
            <a:gs pos="100000">
              <a:srgbClr val="EFF6FF"/>
            </a:gs>
          </a:gsLst>
          <a:lin ang="81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5714857" y="2104410"/>
            <a:ext cx="761980" cy="439379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362340" y="3086100"/>
            <a:ext cx="3467013" cy="9144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6240"/>
              </a:lnSpc>
              <a:spcBef>
                <a:spcPts val="0"/>
              </a:spcBef>
              <a:spcAft>
                <a:spcPts val="1560"/>
              </a:spcAft>
            </a:pPr>
            <a:r>
              <a:rPr sz="3827" b="1">
                <a:solidFill>
                  <a:srgbClr val="1E3A8A"/>
                </a:solidFill>
                <a:latin typeface="Source Code Pro"/>
              </a:rPr>
              <a:t>Thank You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262" y="4229100"/>
            <a:ext cx="1219169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362340" y="4572000"/>
            <a:ext cx="3467013" cy="342900"/>
          </a:xfrm>
          <a:prstGeom prst="rect">
            <a:avLst/>
          </a:prstGeom>
          <a:noFill/>
        </p:spPr>
        <p:txBody>
          <a:bodyPr wrap="none" lIns="73152" tIns="54864" rIns="73152" bIns="54864" anchor="ctr">
            <a:spAutoFit/>
          </a:bodyPr>
          <a:lstStyle/>
          <a:p>
            <a:pPr algn="ctr">
              <a:lnSpc>
                <a:spcPts val="2340"/>
              </a:lnSpc>
              <a:spcBef>
                <a:spcPts val="0"/>
              </a:spcBef>
              <a:spcAft>
                <a:spcPts val="0"/>
              </a:spcAft>
            </a:pPr>
            <a:r>
              <a:rPr sz="1435" b="0">
                <a:solidFill>
                  <a:srgbClr val="4B5563"/>
                </a:solidFill>
                <a:latin typeface="Roboto Flex"/>
              </a:rPr>
              <a:t>Questions? Let's Discuss.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454</Words>
  <Application>Microsoft Office PowerPoint</Application>
  <PresentationFormat>Widescreen</PresentationFormat>
  <Paragraphs>104</Paragraphs>
  <Slides>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Arial</vt:lpstr>
      <vt:lpstr>Calibri</vt:lpstr>
      <vt:lpstr>Roboto Flex</vt:lpstr>
      <vt:lpstr>Source Code Pro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Mary A Berna</dc:creator>
  <cp:keywords/>
  <dc:description>generated using python-pptx</dc:description>
  <cp:lastModifiedBy>A CHRISTINA GENE</cp:lastModifiedBy>
  <cp:revision>9</cp:revision>
  <dcterms:created xsi:type="dcterms:W3CDTF">2013-01-27T09:14:16Z</dcterms:created>
  <dcterms:modified xsi:type="dcterms:W3CDTF">2026-02-24T08:01:26Z</dcterms:modified>
  <cp:category/>
</cp:coreProperties>
</file>